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Arial"/>
              </a:rPr>
              <a:t>Bookings by Channel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Web</c:v>
                  </c:pt>
                  <c:pt idx="1">
                    <c:v>Mobile App</c:v>
                  </c:pt>
                  <c:pt idx="2">
                    <c:v>Travel Agent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15001</c:v>
                </c:pt>
                <c:pt idx="1">
                  <c:v>12009</c:v>
                </c:pt>
                <c:pt idx="2">
                  <c:v>2990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Arial"/>
              </a:rPr>
              <a:t>Revenue by Channel (₹M)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Web</c:v>
                  </c:pt>
                  <c:pt idx="1">
                    <c:v>Mobile App</c:v>
                  </c:pt>
                  <c:pt idx="2">
                    <c:v>Travel Agent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443.9</c:v>
                </c:pt>
                <c:pt idx="1">
                  <c:v>353.3</c:v>
                </c:pt>
                <c:pt idx="2">
                  <c:v>87.8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Arial"/>
              </a:rPr>
              <a:t>Cancellation Rate by Channel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Travel Agent</c:v>
                  </c:pt>
                  <c:pt idx="1">
                    <c:v>Mobile App</c:v>
                  </c:pt>
                  <c:pt idx="2">
                    <c:v>Web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27.9</c:v>
                </c:pt>
                <c:pt idx="1">
                  <c:v>21.6</c:v>
                </c:pt>
                <c:pt idx="2">
                  <c:v>17.6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Confirmed ₹638.8M</c:v>
                </c:pt>
                <c:pt idx="1">
                  <c:v>Cancelled ₹179.7M</c:v>
                </c:pt>
                <c:pt idx="2">
                  <c:v>Failed ₹66.7M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638.8</c:v>
                </c:pt>
                <c:pt idx="1">
                  <c:v>179.7</c:v>
                </c:pt>
                <c:pt idx="2">
                  <c:v>66.7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Arial"/>
              </a:rPr>
              <a:t>Bookings by Room Type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Standard 16,552</c:v>
                </c:pt>
                <c:pt idx="1">
                  <c:v>Deluxe 10,478</c:v>
                </c:pt>
                <c:pt idx="2">
                  <c:v>Suite 2,970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16552</c:v>
                </c:pt>
                <c:pt idx="1">
                  <c:v>10478</c:v>
                </c:pt>
                <c:pt idx="2">
                  <c:v>2970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Arial"/>
              </a:rPr>
              <a:t>Cancellation Rate by Room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Standard</c:v>
                  </c:pt>
                  <c:pt idx="1">
                    <c:v>Suite</c:v>
                  </c:pt>
                  <c:pt idx="2">
                    <c:v>Deluxe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23.3</c:v>
                </c:pt>
                <c:pt idx="1">
                  <c:v>18</c:v>
                </c:pt>
                <c:pt idx="2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Arial"/>
              </a:rPr>
              <a:t>Revenue by Star Rating (₹M)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4-Star</c:v>
                  </c:pt>
                  <c:pt idx="1">
                    <c:v>3-Star</c:v>
                  </c:pt>
                  <c:pt idx="2">
                    <c:v>5-Star</c:v>
                  </c:pt>
                  <c:pt idx="3">
                    <c:v>2-Star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354.8</c:v>
                </c:pt>
                <c:pt idx="1">
                  <c:v>310.1</c:v>
                </c:pt>
                <c:pt idx="2">
                  <c:v>131.7</c:v>
                </c:pt>
                <c:pt idx="3">
                  <c:v>88.5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Volume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2250</c:v>
                </c:pt>
                <c:pt idx="1">
                  <c:v>2180</c:v>
                </c:pt>
                <c:pt idx="2">
                  <c:v>2400</c:v>
                </c:pt>
                <c:pt idx="3">
                  <c:v>3800</c:v>
                </c:pt>
                <c:pt idx="4">
                  <c:v>2350</c:v>
                </c:pt>
                <c:pt idx="5">
                  <c:v>2280</c:v>
                </c:pt>
                <c:pt idx="6">
                  <c:v>2310</c:v>
                </c:pt>
                <c:pt idx="7">
                  <c:v>2290</c:v>
                </c:pt>
                <c:pt idx="8">
                  <c:v>2260</c:v>
                </c:pt>
                <c:pt idx="9">
                  <c:v>2310</c:v>
                </c:pt>
                <c:pt idx="10">
                  <c:v>2200</c:v>
                </c:pt>
                <c:pt idx="11">
                  <c:v>2370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657600" cy="3657600"/>
          </a:xfrm>
          <a:prstGeom prst="ellipse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463040"/>
            <a:ext cx="320040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BOOKING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 &amp; Strategic Opportunity Assessment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291840"/>
            <a:ext cx="5029200" cy="137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290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Strategy Division  |  FY 2024  |  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4343400"/>
            <a:ext cx="26060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4636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Bookings Analyzed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27832" y="4343400"/>
            <a:ext cx="26060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₹885M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27832" y="4636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44184" y="4343400"/>
            <a:ext cx="26060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₹208.8M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44184" y="4636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Total Profit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Strategic Priorities Emerge from 30,000 Bookings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727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572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21208" y="2057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Dominance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1208" y="2487168"/>
            <a:ext cx="1783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drives 50% of bookings &amp; ₹443.9M revenue. Mobile App is a high-growth second channel.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32888" y="141732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5727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41648" y="1572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642616" y="2057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Leakage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642616" y="2487168"/>
            <a:ext cx="1783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₹246.4M lost to cancellations &amp; failures. Cancellation rate 20.4% overall.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54296" y="141732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15727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3056" y="1572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764024" y="2057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Segment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764024" y="2487168"/>
            <a:ext cx="1783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properties lead with ₹354.8M revenue — the sweet spot for price-to-quality.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75704" y="141732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57276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84464" y="1572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885432" y="2057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Demand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85432" y="2487168"/>
            <a:ext cx="1783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is a proven peak month requiring dynamic pricing &amp; inventory strategy.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11480" y="4553712"/>
            <a:ext cx="83210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292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KEY INSIGHT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Reducing cancellations and deepening the Web channel are the highest-ROI levers available to management.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DATASET 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 Records Across Channels, Room Types &amp; Star Ratings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17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453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2174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Travel Platform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27832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1417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19272" y="195453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Channels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19272" y="22174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Agent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044184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35624" y="1417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35624" y="195453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Categories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35624" y="22174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· Deluxe · Suite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7249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₹885M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326212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5250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 combined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27832" y="2633472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9272" y="27249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₹208.8M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19272" y="326212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9272" y="35250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 margin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44184" y="2633472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35624" y="27249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35624" y="326212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Cancellation Rate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35624" y="35250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leakage risk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" y="4553712"/>
            <a:ext cx="83210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KEY INSIGHT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Dataset provides statistically robust foundation across all three segments — channel, room type, and star rating.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BOOKING CHANNEL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Channel Dominates; Mobile App Is a Fast-Growing #2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61872"/>
          <a:ext cx="42062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261872"/>
          <a:ext cx="39776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4553712"/>
            <a:ext cx="83210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KEY INSIGHT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 channel generates 50.1% of bookings and 50.2% of revenue — the primary growth engine. Travel Agent contribution is marginal at 9.9%.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CANCELLATION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Agent Cancellations Are a Structural Risk at 27.9%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61872"/>
          <a:ext cx="50292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261872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₹179.7M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40880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Value Lost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040880" y="15727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 cancellations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623560" y="2249424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15000" y="22677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₹42.4M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4088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Lost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40880" y="25603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 cancellations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3236976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32552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₹66.7M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40880" y="3273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Bookings Revenue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40880" y="35478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Additional leakage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11480" y="4553712"/>
            <a:ext cx="83210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KEY INSIGHT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Total revenue at risk from cancellations + failures = ₹246.4M. Addressing this is the single highest-impact strategic priority.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REVENUE LEAKAGE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Lost Through Cancellations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784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Quantifying the financial impact of booking attrition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37160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389888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0D2141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45336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6636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BOOKING VALUE IMPACT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166360" y="1664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₹179.7M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166360" y="1901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Direct revenue from cancelled bookings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0" y="2276856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0D2141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43230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2350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PROFIT IMPACT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5166360" y="25511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₹42.4M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166360" y="2788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Lost profit potential from cancellations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572000" y="3163824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0D2141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31927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6360" y="3236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FAILED BOOKING LOSS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5166360" y="34381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₹66.7M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5166360" y="3675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Revenue from failed / dropped bookings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4572000" y="405993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09160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</a:rPr>
              <a:t>RECOMMENDATION  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Reduce cancellations through non-refundable plans, loyalty incentives, and direct booking campaigns.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411480" y="4553712"/>
            <a:ext cx="4023360" cy="384048"/>
          </a:xfrm>
          <a:prstGeom prst="rect">
            <a:avLst/>
          </a:prstGeom>
          <a:solidFill>
            <a:srgbClr val="0D2141"/>
          </a:solidFill>
          <a:ln w="12700">
            <a:solidFill>
              <a:srgbClr val="0D214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2920" y="4562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TOTAL AT RISK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₹246.4M in combined cancellation &amp; failure losses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ROOM TYPE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Rooms Lead Volume; Deluxe Has the Best Retention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61872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023360" y="1261872"/>
          <a:ext cx="47091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4553712"/>
            <a:ext cx="83210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KEY INSIGHT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Standard room customers are price-sensitive with 23.3% cancellation — upsell pathways and loyalty plans can shift them toward Deluxe.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STAR RATING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4-Star Properties Deliver the Highest Revenue &amp; Value Perception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61872"/>
          <a:ext cx="5303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261872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280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40.1%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040880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Revenue Share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040880" y="15727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Largest revenue contributor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897880" y="2249424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22677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74.4%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04088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+ 3-Star Combined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040880" y="25603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Mid-tier dominates demand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3236976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32552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040880" y="3273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Revenue Share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040880" y="35478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Premium segment is niche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11480" y="4553712"/>
            <a:ext cx="83210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KEY INSIGHT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4-Star properties represent the optimal value-for-money proposition. Prioritize inventory expansion and partnerships in this tier.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SEASONAL TREND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April Is a Confirmed Demand Peak — Pricing Opportunity Underutilized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61872"/>
          <a:ext cx="83210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127248" y="1316736"/>
            <a:ext cx="457200" cy="45720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55848" y="1536192"/>
            <a:ext cx="201168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01568" y="157276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▲  APRIL PEAK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+69% vs. avg. month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1480" y="4553712"/>
            <a:ext cx="83210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KEY INSIGHT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April spike is ~69% above the monthly average. Implementing dynamic pricing for April can capture significant incremental revenue.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ROOT CAUSE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Root Causes Drive Underperformance — All Are Addressable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0690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819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59352" y="1508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15636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Agent Dependency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6072" y="20391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 cancellation rate from agent channel signals misaligned incentives and low customer commitment.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690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58191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11312" y="1508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349240" y="15636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Price-Sensitive Segment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28032" y="20391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rooms show 23.3% cancellation — customers are highly price-sensitive &amp; easily defect.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11480" y="2926080"/>
            <a:ext cx="40690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09067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59352" y="3017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97280" y="30723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4-Star Opportunity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76072" y="35478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generates ₹354.8M yet the segment lacks dedicated acquisition and loyalty programs.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63440" y="2926080"/>
            <a:ext cx="40690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09067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11312" y="3017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5349240" y="30723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Seasonal Pricing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828032" y="35478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demand spike is unpriced — flat rates leave significant revenue on the table.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11480" y="4553712"/>
            <a:ext cx="83210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2920" y="45628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KEY INSIGHT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All four root causes are addressable through targeted commercial initiatives — none require capital expenditure.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6B6D4"/>
                </a:solidFill>
              </a:rPr>
              <a:t>BUSINESS RECOMMENDATIONS &amp; CONCLUSION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Roadmap: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961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5 Initiatives to Reclaim ₹246M and Drive Growth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D2141"/>
          </a:solidFill>
          <a:ln w="6350">
            <a:solidFill>
              <a:srgbClr val="1A356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Web Channel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24128" y="16002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Invest in SEO, CRO, and digital acquisition. Web is the highest-volume and lowest-cancellation channel.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479792" y="1426464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79792" y="14356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CA5A5"/>
                </a:solidFill>
              </a:rPr>
              <a:t>HIGH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92024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D2141"/>
          </a:solidFill>
          <a:ln w="6350">
            <a:solidFill>
              <a:srgbClr val="1A356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116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Agent Dependency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" y="222199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Redirect agent budget to direct channels. Renegotiate agent contracts with cancellation penalties.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479792" y="2048256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0574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CA5A5"/>
                </a:solidFill>
              </a:rPr>
              <a:t>HIGH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11480" y="2542032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D2141"/>
          </a:solidFill>
          <a:ln w="6350">
            <a:solidFill>
              <a:srgbClr val="1A356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334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596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Non-Refundable Booking Plans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024128" y="284378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Introduce discounted non-refundable fares to reduce cancellation rates and lock in revenue.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479792" y="2670048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79792" y="26791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CA5A5"/>
                </a:solidFill>
              </a:rPr>
              <a:t>HIGH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11480" y="3163824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D2141"/>
          </a:solidFill>
          <a:ln w="6350">
            <a:solidFill>
              <a:srgbClr val="1A356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5526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24128" y="3218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&amp; Repeat Programs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024128" y="346557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Launch a tiered loyalty program targeting Standard room customers to upgrade to Deluxe.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479792" y="3291840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479792" y="33009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DD3FC"/>
                </a:solidFill>
              </a:rPr>
              <a:t>MEDIUM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411480" y="3785616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D2141"/>
          </a:solidFill>
          <a:ln w="6350">
            <a:solidFill>
              <a:srgbClr val="1A356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77056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24128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 for April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024128" y="40873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Implement demand-based pricing for the April peak — estimated 10-15% incremental revenue uplift.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7479792" y="3913632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479792" y="392277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DD3FC"/>
                </a:solidFill>
              </a:rPr>
              <a:t>MEDIUM</a:t>
            </a:r>
            <a:endParaRPr lang="en-US" sz="750" dirty="0"/>
          </a:p>
        </p:txBody>
      </p:sp>
      <p:sp>
        <p:nvSpPr>
          <p:cNvPr id="35" name="Shape 28"/>
          <p:cNvSpPr/>
          <p:nvPr/>
        </p:nvSpPr>
        <p:spPr>
          <a:xfrm>
            <a:off x="411480" y="4498848"/>
            <a:ext cx="83210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48640" y="451713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STRATEGIC CONCLUSION  |  Implementing these 5 initiatives can recover ₹246M in at-risk revenue and drive double-digit profit growth.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Analysis</dc:title>
  <dc:subject>PptxGenJS Presentation</dc:subject>
  <dc:creator>Analytics &amp; Strategy</dc:creator>
  <cp:lastModifiedBy>Analytics &amp; Strategy</cp:lastModifiedBy>
  <cp:revision>1</cp:revision>
  <dcterms:created xsi:type="dcterms:W3CDTF">2026-06-14T11:23:26Z</dcterms:created>
  <dcterms:modified xsi:type="dcterms:W3CDTF">2026-06-14T11:23:26Z</dcterms:modified>
</cp:coreProperties>
</file>